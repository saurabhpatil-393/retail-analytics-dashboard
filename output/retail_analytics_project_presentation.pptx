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ANALYTICS COMMAND CENTER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89920" y="65379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87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1417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Center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browser-based business intelligence dashboard for messy global retail 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3749040"/>
            <a:ext cx="5394960" cy="1143000"/>
          </a:xfrm>
          <a:prstGeom prst="roundRect">
            <a:avLst>
              <a:gd name="adj" fmla="val 3200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A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42245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imperfect order data into explainable metrics, trends, segments, forecasts, and decisions.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188720"/>
            <a:ext cx="2926080" cy="2926080"/>
          </a:xfrm>
          <a:prstGeom prst="arc">
            <a:avLst/>
          </a:prstGeom>
          <a:solidFill>
            <a:srgbClr val="4FD1C5">
              <a:alpha val="0"/>
            </a:srgbClr>
          </a:solidFill>
          <a:ln w="27940">
            <a:solidFill>
              <a:srgbClr val="4FD1C5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1874520"/>
            <a:ext cx="2926080" cy="2926080"/>
          </a:xfrm>
          <a:prstGeom prst="arc">
            <a:avLst/>
          </a:prstGeom>
          <a:solidFill>
            <a:srgbClr val="F0A857">
              <a:alpha val="0"/>
            </a:srgbClr>
          </a:solidFill>
          <a:ln w="17780">
            <a:solidFill>
              <a:srgbClr val="F0A857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5806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60533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dataset | 2022-2025 | Self-contained HTML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complete analytics workflow in one deliverable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combines data engineering, quality controls, statistical analysis, and an interactive decision surface.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32004" cy="987552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8379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ORDERS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7512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24,288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91640"/>
            <a:ext cx="32004" cy="987552"/>
          </a:xfrm>
          <a:prstGeom prst="rect">
            <a:avLst/>
          </a:prstGeom>
          <a:solidFill>
            <a:srgbClr val="6FCF9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8379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ORDERS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10712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23,960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691640"/>
            <a:ext cx="32004" cy="987552"/>
          </a:xfrm>
          <a:prstGeom prst="rect">
            <a:avLst/>
          </a:prstGeom>
          <a:solidFill>
            <a:srgbClr val="F0A857"/>
          </a:solidFill>
          <a:ln w="12700">
            <a:solidFill>
              <a:srgbClr val="F0A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18379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53912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8732520" y="1691640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1691640"/>
            <a:ext cx="32004" cy="987552"/>
          </a:xfrm>
          <a:prstGeom prst="rect">
            <a:avLst/>
          </a:prstGeom>
          <a:solidFill>
            <a:srgbClr val="9B8CF2"/>
          </a:solidFill>
          <a:ln w="12700">
            <a:solidFill>
              <a:srgbClr val="9B8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18379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CATEGORIES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897112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5349240" cy="2514600"/>
          </a:xfrm>
          <a:prstGeom prst="roundRect">
            <a:avLst>
              <a:gd name="adj" fmla="val 1455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273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379476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7033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Filter-aware revenue, orders, profit, and customer KPIs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215384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12394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Drill from category or geography into the full dashboard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463600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54456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Data-quality evidence is visible instead of hidden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056632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9651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Forecasts and anomalies support forward-looking decisions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017520"/>
            <a:ext cx="5212080" cy="2514600"/>
          </a:xfrm>
          <a:prstGeom prst="roundRect">
            <a:avLst>
              <a:gd name="adj" fmla="val 1455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2735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0" y="379476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70332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Self-contained and easy to share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4215384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41239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backend, database, or external API required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463600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5445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reconciliation: profit = revenue - cost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5056632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496519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data limitations are disclosed in the product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lightweight pipeline with a browser-first output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prepares the facts; vanilla JavaScript turns them into an interactive experience.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1901952" cy="1965960"/>
          </a:xfrm>
          <a:prstGeom prst="roundRect">
            <a:avLst>
              <a:gd name="adj" fmla="val 1923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762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A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source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218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gen_data.py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+ pandas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834640"/>
            <a:ext cx="228600" cy="256032"/>
          </a:xfrm>
          <a:prstGeom prst="chevron">
            <a:avLst/>
          </a:prstGeom>
          <a:solidFill>
            <a:srgbClr val="4FD1C5">
              <a:alpha val="88000"/>
            </a:srgbClr>
          </a:solidFill>
          <a:ln w="12700">
            <a:solidFill>
              <a:srgbClr val="4FD1C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52928" y="1993392"/>
            <a:ext cx="1901952" cy="1965960"/>
          </a:xfrm>
          <a:prstGeom prst="roundRect">
            <a:avLst>
              <a:gd name="adj" fmla="val 1923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1762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+ aggregate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3218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build_agg.py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+ analytics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18888" y="2834640"/>
            <a:ext cx="228600" cy="256032"/>
          </a:xfrm>
          <a:prstGeom prst="chevron">
            <a:avLst/>
          </a:prstGeom>
          <a:solidFill>
            <a:srgbClr val="4FD1C5">
              <a:alpha val="88000"/>
            </a:srgbClr>
          </a:solidFill>
          <a:ln w="12700">
            <a:solidFill>
              <a:srgbClr val="4FD1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57216" y="1993392"/>
            <a:ext cx="1901952" cy="1965960"/>
          </a:xfrm>
          <a:prstGeom prst="roundRect">
            <a:avLst>
              <a:gd name="adj" fmla="val 1923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21762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B8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21808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package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1808" y="3218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dashboard_data.json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encoded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23176" y="2834640"/>
            <a:ext cx="228600" cy="256032"/>
          </a:xfrm>
          <a:prstGeom prst="chevron">
            <a:avLst/>
          </a:prstGeom>
          <a:solidFill>
            <a:srgbClr val="4FD1C5">
              <a:alpha val="88000"/>
            </a:srgbClr>
          </a:solidFill>
          <a:ln w="12700">
            <a:solidFill>
              <a:srgbClr val="4FD1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504" y="1993392"/>
            <a:ext cx="1901952" cy="1965960"/>
          </a:xfrm>
          <a:prstGeom prst="roundRect">
            <a:avLst>
              <a:gd name="adj" fmla="val 1923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6096" y="21762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CF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26096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26096" y="3218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assemble.py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+ app + Chart.js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27464" y="2834640"/>
            <a:ext cx="228600" cy="256032"/>
          </a:xfrm>
          <a:prstGeom prst="chevron">
            <a:avLst/>
          </a:prstGeom>
          <a:solidFill>
            <a:srgbClr val="4FD1C5">
              <a:alpha val="88000"/>
            </a:srgbClr>
          </a:solidFill>
          <a:ln w="12700">
            <a:solidFill>
              <a:srgbClr val="4FD1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65792" y="1993392"/>
            <a:ext cx="1901952" cy="1965960"/>
          </a:xfrm>
          <a:prstGeom prst="roundRect">
            <a:avLst>
              <a:gd name="adj" fmla="val 1923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0384" y="21762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62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30384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30384" y="3218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HTML file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Browser-side filtering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10927080" cy="1005840"/>
          </a:xfrm>
          <a:prstGeom prst="roundRect">
            <a:avLst>
              <a:gd name="adj" fmla="val 3636"/>
            </a:avLst>
          </a:prstGeom>
          <a:solidFill>
            <a:srgbClr val="1B222B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7365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profile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48840" y="4672584"/>
            <a:ext cx="8823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hosting is enough. The delivered HTML contains the dashboard logic, Chart.js, JSON data, and styling; Node.js is only used locally to serve the file during development.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DATA PREPARATION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Messiness is part of the product story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is deliberately imperfect so the quality and reconciliation views demonstrate real analytical discipline.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55648"/>
            <a:ext cx="3657600" cy="3977640"/>
          </a:xfrm>
          <a:prstGeom prst="roundRect">
            <a:avLst>
              <a:gd name="adj" fmla="val 1000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Injected issues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4672" y="260604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1460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ship dates, cities, discounts, and payment methods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3090672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999232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duplicate rows from simulated double submissions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" y="3575304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483864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quantities and zero unit prices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" y="4059936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968496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category casing and whitespace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" y="454456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453128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sales outliers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1755648"/>
            <a:ext cx="3310128" cy="3977640"/>
          </a:xfrm>
          <a:prstGeom prst="roundRect">
            <a:avLst>
              <a:gd name="adj" fmla="val 1105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actions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782312" y="260604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514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category labels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82312" y="3044952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9535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82312" y="3483864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39242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invalid prices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82312" y="3922776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831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negative quantities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82312" y="436168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42702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missing values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82312" y="480060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47091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processing days and margins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0728" y="1755648"/>
            <a:ext cx="3310128" cy="3977640"/>
          </a:xfrm>
          <a:prstGeom prst="roundRect">
            <a:avLst>
              <a:gd name="adj" fmla="val 1105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5048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Integrity controls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85048" y="2587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is re-derived as: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85048" y="296265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D1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- cost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385048" y="3657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revenue, cost, and profit reconcile exactly for every row, including outliers.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DASHBOARD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surface for scanning, slicing, and explaining performance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interface is implemented in vanilla JavaScript with Chart.js and a responsive CSS system.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468880" cy="3566160"/>
          </a:xfrm>
          <a:prstGeom prst="roundRect">
            <a:avLst>
              <a:gd name="adj" fmla="val 1481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2468880" cy="73152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139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58952" y="276148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670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KPIs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26440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1729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profit trends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76732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675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427024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178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Profitability views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9272" y="1828800"/>
            <a:ext cx="2468880" cy="3566160"/>
          </a:xfrm>
          <a:prstGeom prst="roundRect">
            <a:avLst>
              <a:gd name="adj" fmla="val 1481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1828800"/>
            <a:ext cx="2468880" cy="73152"/>
          </a:xfrm>
          <a:prstGeom prst="rect">
            <a:avLst/>
          </a:prstGeom>
          <a:solidFill>
            <a:srgbClr val="F0A857"/>
          </a:solidFill>
          <a:ln w="12700">
            <a:solidFill>
              <a:srgbClr val="F0A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2139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75304" y="276148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2670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drill-down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75304" y="326440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8184" y="31729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and country filters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75304" y="376732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3675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 segments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75304" y="427024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8184" y="4178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retention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35624" y="1828800"/>
            <a:ext cx="2468880" cy="3566160"/>
          </a:xfrm>
          <a:prstGeom prst="roundRect">
            <a:avLst>
              <a:gd name="adj" fmla="val 1481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35624" y="1828800"/>
            <a:ext cx="2468880" cy="73152"/>
          </a:xfrm>
          <a:prstGeom prst="rect">
            <a:avLst/>
          </a:prstGeom>
          <a:solidFill>
            <a:srgbClr val="9B8CF2"/>
          </a:solidFill>
          <a:ln w="12700">
            <a:solidFill>
              <a:srgbClr val="9B8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2139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391656" y="276148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2670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91656" y="326440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31729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scores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91656" y="376732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3675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decomposition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91656" y="427024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4178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vs margin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51976" y="1828800"/>
            <a:ext cx="2468880" cy="3566160"/>
          </a:xfrm>
          <a:prstGeom prst="roundRect">
            <a:avLst>
              <a:gd name="adj" fmla="val 1481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51976" y="1828800"/>
            <a:ext cx="2468880" cy="73152"/>
          </a:xfrm>
          <a:prstGeom prst="rect">
            <a:avLst/>
          </a:prstGeom>
          <a:solidFill>
            <a:srgbClr val="6FCF9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08008" y="2139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208008" y="276148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90888" y="2670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detail table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08008" y="326440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90888" y="31729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Multi-column sorting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208008" y="376732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90888" y="3675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visibility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208008" y="4270248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90888" y="4178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CSV export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ANALYTICS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descriptive reporting to decision support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Precomputed analytics keep the browser responsive while preserving transparent methods.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0881360" cy="594360"/>
          </a:xfrm>
          <a:prstGeom prst="roundRect">
            <a:avLst>
              <a:gd name="adj" fmla="val 615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568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 segmentation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929384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Recency, frequency, and monetary value classify customers into Champions, Loyal, At Risk, Lost, and more.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596896"/>
            <a:ext cx="10881360" cy="594360"/>
          </a:xfrm>
          <a:prstGeom prst="roundRect">
            <a:avLst>
              <a:gd name="adj" fmla="val 6154"/>
            </a:avLst>
          </a:prstGeom>
          <a:solidFill>
            <a:srgbClr val="1B222B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432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retention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715768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are grouped by first purchase month and tracked across month offsets.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383280"/>
            <a:ext cx="10881360" cy="594360"/>
          </a:xfrm>
          <a:prstGeom prst="roundRect">
            <a:avLst>
              <a:gd name="adj" fmla="val 615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350215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90-day daily history supports 30, 60, and 90-day projections with confidence bands.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169664"/>
            <a:ext cx="10881360" cy="594360"/>
          </a:xfrm>
          <a:prstGeom prst="roundRect">
            <a:avLst>
              <a:gd name="adj" fmla="val 6154"/>
            </a:avLst>
          </a:prstGeom>
          <a:solidFill>
            <a:srgbClr val="1B222B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15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decomposition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4288536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movement is separated into volume and price/AOV effects that reconcile to total change.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956048"/>
            <a:ext cx="10881360" cy="594360"/>
          </a:xfrm>
          <a:prstGeom prst="roundRect">
            <a:avLst>
              <a:gd name="adj" fmla="val 615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023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507492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category, and return-rate patterns are compared to expected behavior.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QUALITY AND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dashboard makes data confidence visible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scores are calculated from the raw dataset before cleaning.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514600" cy="987552"/>
          </a:xfrm>
          <a:prstGeom prst="roundRect">
            <a:avLst>
              <a:gd name="adj" fmla="val 370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32004" cy="987552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293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58952" y="2167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99.73%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273552" y="1783080"/>
            <a:ext cx="2514600" cy="987552"/>
          </a:xfrm>
          <a:prstGeom prst="roundRect">
            <a:avLst>
              <a:gd name="adj" fmla="val 370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783080"/>
            <a:ext cx="32004" cy="987552"/>
          </a:xfrm>
          <a:prstGeom prst="rect">
            <a:avLst/>
          </a:prstGeom>
          <a:solidFill>
            <a:srgbClr val="6FCF9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9293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38144" y="2167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99.4%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5952744" y="1783080"/>
            <a:ext cx="2514600" cy="987552"/>
          </a:xfrm>
          <a:prstGeom prst="roundRect">
            <a:avLst>
              <a:gd name="adj" fmla="val 370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52744" y="1783080"/>
            <a:ext cx="32004" cy="987552"/>
          </a:xfrm>
          <a:prstGeom prst="rect">
            <a:avLst/>
          </a:prstGeom>
          <a:solidFill>
            <a:srgbClr val="F0A857"/>
          </a:solidFill>
          <a:ln w="12700">
            <a:solidFill>
              <a:srgbClr val="F0A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9293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UNIQUENESS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17336" y="2167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98.9%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8631936" y="1783080"/>
            <a:ext cx="2514600" cy="987552"/>
          </a:xfrm>
          <a:prstGeom prst="roundRect">
            <a:avLst>
              <a:gd name="adj" fmla="val 3704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31936" y="1783080"/>
            <a:ext cx="32004" cy="987552"/>
          </a:xfrm>
          <a:prstGeom prst="rect">
            <a:avLst/>
          </a:prstGeom>
          <a:solidFill>
            <a:srgbClr val="9B8CF2"/>
          </a:solidFill>
          <a:ln w="12700">
            <a:solidFill>
              <a:srgbClr val="9B8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96528" y="19293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SCORE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96528" y="2167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99.4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594360" y="3154680"/>
            <a:ext cx="5257800" cy="2057400"/>
          </a:xfrm>
          <a:prstGeom prst="roundRect">
            <a:avLst>
              <a:gd name="adj" fmla="val 1778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Raw-to-clean reconciliation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6112" y="393192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268 duplicate rows removed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6112" y="425196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4160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 invalid quantities repaired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" y="457200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4480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 zero-price rows dropped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6112" y="489204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4800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832 sales outliers flagged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4768" y="3154680"/>
            <a:ext cx="5212080" cy="2057400"/>
          </a:xfrm>
          <a:prstGeom prst="roundRect">
            <a:avLst>
              <a:gd name="adj" fmla="val 1778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3429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6520" y="393192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840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state or province field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425196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160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delivery confirmation timestamp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46520" y="457200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480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marketing attribution or CAC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46520" y="4892040"/>
            <a:ext cx="82296" cy="82296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48006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data, not production sales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7EA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Easy to run, easy to explain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artifact is a portable HTML dashboard with a reproducible source structure.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074920" cy="3429000"/>
          </a:xfrm>
          <a:prstGeom prst="roundRect">
            <a:avLst>
              <a:gd name="adj" fmla="val 1067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dashboard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1832" y="26974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http://localhost:8000/output/retail_analytics_dashboard.html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342900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project is already running locally through a Node-based static server.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4315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A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459028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output/retail_analytics_dashboard.html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810512"/>
            <a:ext cx="5212080" cy="3429000"/>
          </a:xfrm>
          <a:prstGeom prst="roundRect">
            <a:avLst>
              <a:gd name="adj" fmla="val 1067"/>
            </a:avLst>
          </a:prstGeom>
          <a:solidFill>
            <a:srgbClr val="151B22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EA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sequence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82512" y="2743200"/>
            <a:ext cx="4389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7EAE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scripts/gen_data.py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7EAE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scripts/build_agg.py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7EAE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scripts/assemble.py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82512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pandas and numpy. The scripts should use project-relative paths when rebuilding on Windows.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5742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" y="60533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analytics, made inspectable.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Retail Analytics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Analytics Command Center</dc:title>
  <dc:subject>Retail Analytics Command Center</dc:subject>
  <dc:creator>Retail Analytics Project</dc:creator>
  <cp:lastModifiedBy>Retail Analytics Project</cp:lastModifiedBy>
  <cp:revision>1</cp:revision>
  <dcterms:created xsi:type="dcterms:W3CDTF">2026-09-13T10:29:56Z</dcterms:created>
  <dcterms:modified xsi:type="dcterms:W3CDTF">2026-09-13T10:29:56Z</dcterms:modified>
</cp:coreProperties>
</file>